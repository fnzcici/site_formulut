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Montserrat SemiBold"/>
      <p:regular r:id="rId15"/>
      <p:bold r:id="rId16"/>
      <p:italic r:id="rId17"/>
      <p:boldItalic r:id="rId18"/>
    </p:embeddedFont>
    <p:embeddedFont>
      <p:font typeface="Montserrat Medium"/>
      <p:regular r:id="rId19"/>
      <p:bold r:id="rId20"/>
      <p:italic r:id="rId21"/>
      <p:boldItalic r:id="rId22"/>
    </p:embeddedFont>
    <p:embeddedFont>
      <p:font typeface="DM Sans Black"/>
      <p:bold r:id="rId23"/>
      <p:boldItalic r:id="rId24"/>
    </p:embeddedFont>
    <p:embeddedFont>
      <p:font typeface="DM Sans SemiBold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jQTimhRf8ATrLUM3uo3lLm5SJN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bold.fntdata"/><Relationship Id="rId22" Type="http://schemas.openxmlformats.org/officeDocument/2006/relationships/font" Target="fonts/MontserratMedium-boldItalic.fntdata"/><Relationship Id="rId21" Type="http://schemas.openxmlformats.org/officeDocument/2006/relationships/font" Target="fonts/MontserratMedium-italic.fntdata"/><Relationship Id="rId24" Type="http://schemas.openxmlformats.org/officeDocument/2006/relationships/font" Target="fonts/DMSansBlack-boldItalic.fntdata"/><Relationship Id="rId23" Type="http://schemas.openxmlformats.org/officeDocument/2006/relationships/font" Target="fonts/DMSansBlack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DMSansSemiBold-bold.fntdata"/><Relationship Id="rId25" Type="http://schemas.openxmlformats.org/officeDocument/2006/relationships/font" Target="fonts/DMSansSemiBold-regular.fntdata"/><Relationship Id="rId28" Type="http://schemas.openxmlformats.org/officeDocument/2006/relationships/font" Target="fonts/DMSansSemiBold-boldItalic.fntdata"/><Relationship Id="rId27" Type="http://schemas.openxmlformats.org/officeDocument/2006/relationships/font" Target="fonts/DMSansSemiBold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MontserratSemiBold-regular.fntdata"/><Relationship Id="rId14" Type="http://schemas.openxmlformats.org/officeDocument/2006/relationships/slide" Target="slides/slide10.xml"/><Relationship Id="rId17" Type="http://schemas.openxmlformats.org/officeDocument/2006/relationships/font" Target="fonts/MontserratSemiBold-italic.fntdata"/><Relationship Id="rId16" Type="http://schemas.openxmlformats.org/officeDocument/2006/relationships/font" Target="fonts/MontserratSemiBold-bold.fntdata"/><Relationship Id="rId19" Type="http://schemas.openxmlformats.org/officeDocument/2006/relationships/font" Target="fonts/MontserratMedium-regular.fntdata"/><Relationship Id="rId18" Type="http://schemas.openxmlformats.org/officeDocument/2006/relationships/font" Target="fonts/Montserrat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a4857bf26_3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fa4857bf26_3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g3fa4857bf26_3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" name="Google Shape;1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" name="Google Shape;16;p1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" name="Google Shape;18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" name="Google Shape;20;p1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" name="Google Shape;2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" name="Google Shape;24;p1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" name="Google Shape;26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8" name="Google Shape;28;p1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" name="Google Shape;3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2" name="Google Shape;32;p1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" name="Google Shape;3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6" name="Google Shape;36;p1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/>
          <p:nvPr>
            <p:ph type="ctrTitle"/>
          </p:nvPr>
        </p:nvSpPr>
        <p:spPr>
          <a:xfrm>
            <a:off x="498733" y="1191320"/>
            <a:ext cx="13632900" cy="32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9pPr>
          </a:lstStyle>
          <a:p/>
        </p:txBody>
      </p:sp>
      <p:sp>
        <p:nvSpPr>
          <p:cNvPr id="39" name="Google Shape;39;p18"/>
          <p:cNvSpPr txBox="1"/>
          <p:nvPr>
            <p:ph idx="1" type="subTitle"/>
          </p:nvPr>
        </p:nvSpPr>
        <p:spPr>
          <a:xfrm>
            <a:off x="498720" y="4534600"/>
            <a:ext cx="13632900" cy="12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498720" y="3441360"/>
            <a:ext cx="13632900" cy="13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9pPr>
          </a:lstStyle>
          <a:p/>
        </p:txBody>
      </p:sp>
      <p:sp>
        <p:nvSpPr>
          <p:cNvPr id="43" name="Google Shape;43;p19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1" type="body"/>
          </p:nvPr>
        </p:nvSpPr>
        <p:spPr>
          <a:xfrm>
            <a:off x="498720" y="1843960"/>
            <a:ext cx="6399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51" name="Google Shape;51;p21"/>
          <p:cNvSpPr txBox="1"/>
          <p:nvPr>
            <p:ph idx="2" type="body"/>
          </p:nvPr>
        </p:nvSpPr>
        <p:spPr>
          <a:xfrm>
            <a:off x="7731840" y="1843960"/>
            <a:ext cx="6399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52" name="Google Shape;52;p21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/>
          <p:nvPr>
            <p:ph type="title"/>
          </p:nvPr>
        </p:nvSpPr>
        <p:spPr>
          <a:xfrm>
            <a:off x="498720" y="888960"/>
            <a:ext cx="44928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58" name="Google Shape;58;p23"/>
          <p:cNvSpPr txBox="1"/>
          <p:nvPr>
            <p:ph idx="1" type="body"/>
          </p:nvPr>
        </p:nvSpPr>
        <p:spPr>
          <a:xfrm>
            <a:off x="498720" y="2223360"/>
            <a:ext cx="4492800" cy="5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59" name="Google Shape;59;p23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4"/>
          <p:cNvSpPr txBox="1"/>
          <p:nvPr>
            <p:ph type="title"/>
          </p:nvPr>
        </p:nvSpPr>
        <p:spPr>
          <a:xfrm>
            <a:off x="784400" y="720240"/>
            <a:ext cx="10188600" cy="65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62" name="Google Shape;62;p24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5"/>
          <p:cNvSpPr/>
          <p:nvPr/>
        </p:nvSpPr>
        <p:spPr>
          <a:xfrm>
            <a:off x="7315200" y="-200"/>
            <a:ext cx="7315200" cy="822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5"/>
          <p:cNvSpPr txBox="1"/>
          <p:nvPr>
            <p:ph type="title"/>
          </p:nvPr>
        </p:nvSpPr>
        <p:spPr>
          <a:xfrm>
            <a:off x="424800" y="1973080"/>
            <a:ext cx="6472200" cy="2371800"/>
          </a:xfrm>
          <a:prstGeom prst="rect">
            <a:avLst/>
          </a:prstGeom>
          <a:noFill/>
          <a:ln>
            <a:noFill/>
          </a:ln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9pPr>
          </a:lstStyle>
          <a:p/>
        </p:txBody>
      </p:sp>
      <p:sp>
        <p:nvSpPr>
          <p:cNvPr id="66" name="Google Shape;66;p25"/>
          <p:cNvSpPr txBox="1"/>
          <p:nvPr>
            <p:ph idx="1" type="subTitle"/>
          </p:nvPr>
        </p:nvSpPr>
        <p:spPr>
          <a:xfrm>
            <a:off x="424800" y="4484920"/>
            <a:ext cx="6472200" cy="19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67" name="Google Shape;67;p25"/>
          <p:cNvSpPr txBox="1"/>
          <p:nvPr>
            <p:ph idx="2" type="body"/>
          </p:nvPr>
        </p:nvSpPr>
        <p:spPr>
          <a:xfrm>
            <a:off x="7903200" y="1158520"/>
            <a:ext cx="6139200" cy="59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-412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68" name="Google Shape;68;p25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6"/>
          <p:cNvSpPr txBox="1"/>
          <p:nvPr>
            <p:ph idx="1" type="body"/>
          </p:nvPr>
        </p:nvSpPr>
        <p:spPr>
          <a:xfrm>
            <a:off x="498720" y="6768920"/>
            <a:ext cx="9598200" cy="9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</a:lstStyle>
          <a:p/>
        </p:txBody>
      </p:sp>
      <p:sp>
        <p:nvSpPr>
          <p:cNvPr id="71" name="Google Shape;71;p26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/>
          <p:nvPr>
            <p:ph hasCustomPrompt="1" type="title"/>
          </p:nvPr>
        </p:nvSpPr>
        <p:spPr>
          <a:xfrm>
            <a:off x="498720" y="1769800"/>
            <a:ext cx="13632900" cy="3141600"/>
          </a:xfrm>
          <a:prstGeom prst="rect">
            <a:avLst/>
          </a:prstGeom>
          <a:noFill/>
          <a:ln>
            <a:noFill/>
          </a:ln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9pPr>
          </a:lstStyle>
          <a:p>
            <a:r>
              <a:t>xx%</a:t>
            </a:r>
          </a:p>
        </p:txBody>
      </p:sp>
      <p:sp>
        <p:nvSpPr>
          <p:cNvPr id="74" name="Google Shape;74;p27"/>
          <p:cNvSpPr txBox="1"/>
          <p:nvPr>
            <p:ph idx="1" type="body"/>
          </p:nvPr>
        </p:nvSpPr>
        <p:spPr>
          <a:xfrm>
            <a:off x="498720" y="5043560"/>
            <a:ext cx="13632900" cy="20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683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9" name="Google Shape;79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1" name="Google Shape;81;p2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3" name="Google Shape;83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5" name="Google Shape;85;p3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7" name="Google Shape;87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9" name="Google Shape;89;p3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Font typeface="Arial"/>
              <a:buChar char="●"/>
              <a:defRPr b="0" i="0" sz="2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○"/>
              <a:defRPr b="0" i="0" sz="2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83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■"/>
              <a:defRPr b="0" i="0" sz="2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83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83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○"/>
              <a:defRPr b="0" i="0" sz="2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683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■"/>
              <a:defRPr b="0" i="0" sz="2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683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683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○"/>
              <a:defRPr b="0" i="0" sz="2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683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■"/>
              <a:defRPr b="0" i="0" sz="2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jpg"/><Relationship Id="rId5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2C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5" name="Google Shape;95;g3fa4857bf26_3_13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4630272" cy="8229527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g3fa4857bf26_3_13"/>
          <p:cNvSpPr/>
          <p:nvPr/>
        </p:nvSpPr>
        <p:spPr>
          <a:xfrm rot="-5400000">
            <a:off x="2159775" y="-4244475"/>
            <a:ext cx="10318800" cy="14838900"/>
          </a:xfrm>
          <a:prstGeom prst="rect">
            <a:avLst/>
          </a:prstGeom>
          <a:gradFill>
            <a:gsLst>
              <a:gs pos="0">
                <a:srgbClr val="00062E">
                  <a:alpha val="96078"/>
                </a:srgbClr>
              </a:gs>
              <a:gs pos="36000">
                <a:srgbClr val="00062E">
                  <a:alpha val="90196"/>
                </a:srgbClr>
              </a:gs>
              <a:gs pos="66000">
                <a:srgbClr val="00062E">
                  <a:alpha val="41961"/>
                </a:srgbClr>
              </a:gs>
              <a:gs pos="100000">
                <a:srgbClr val="00062E">
                  <a:alpha val="12157"/>
                </a:srgbClr>
              </a:gs>
            </a:gsLst>
            <a:lin ang="420093" scaled="0"/>
          </a:gradFill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0"/>
          </a:p>
        </p:txBody>
      </p:sp>
      <p:sp>
        <p:nvSpPr>
          <p:cNvPr id="97" name="Google Shape;97;g3fa4857bf26_3_13"/>
          <p:cNvSpPr/>
          <p:nvPr/>
        </p:nvSpPr>
        <p:spPr>
          <a:xfrm>
            <a:off x="3429600" y="5623488"/>
            <a:ext cx="7771200" cy="7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Nunito SemiBold"/>
              <a:buNone/>
            </a:pPr>
            <a:r>
              <a:rPr lang="en-US" sz="44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Présentation</a:t>
            </a:r>
            <a:r>
              <a:rPr i="0" lang="en-US" sz="4400" u="none" cap="none" strike="noStrike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 </a:t>
            </a:r>
            <a:r>
              <a:rPr lang="en-US" sz="44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et Objectifs</a:t>
            </a:r>
            <a:endParaRPr i="0" sz="4400" u="none" cap="none" strike="noStrike">
              <a:solidFill>
                <a:schemeClr val="lt1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98" name="Google Shape;98;g3fa4857bf26_3_13"/>
          <p:cNvSpPr/>
          <p:nvPr/>
        </p:nvSpPr>
        <p:spPr>
          <a:xfrm>
            <a:off x="4841250" y="6582775"/>
            <a:ext cx="49479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78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2B42D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On conçoit, on réalise, on pilote.</a:t>
            </a:r>
            <a:endParaRPr i="0" sz="1950" u="none" cap="none" strike="noStrike">
              <a:solidFill>
                <a:srgbClr val="F2B42D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99" name="Google Shape;99;g3fa4857bf26_3_13"/>
          <p:cNvSpPr/>
          <p:nvPr/>
        </p:nvSpPr>
        <p:spPr>
          <a:xfrm>
            <a:off x="505375" y="401250"/>
            <a:ext cx="33069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Nunito SemiBold"/>
              <a:buNone/>
            </a:pPr>
            <a:r>
              <a:rPr lang="en-US" sz="25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L'Innovation en Marche</a:t>
            </a:r>
            <a:endParaRPr i="0" sz="2500" u="none" cap="none" strike="noStrike">
              <a:solidFill>
                <a:schemeClr val="lt1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pic>
        <p:nvPicPr>
          <p:cNvPr id="100" name="Google Shape;100;g3fa4857bf26_3_13" title="logo formul'ut blanc (4).png"/>
          <p:cNvPicPr preferRelativeResize="0"/>
          <p:nvPr/>
        </p:nvPicPr>
        <p:blipFill rotWithShape="1">
          <a:blip r:embed="rId4">
            <a:alphaModFix/>
          </a:blip>
          <a:srcRect b="8333" l="0" r="0" t="0"/>
          <a:stretch/>
        </p:blipFill>
        <p:spPr>
          <a:xfrm>
            <a:off x="2356300" y="994000"/>
            <a:ext cx="9917799" cy="440972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3fa4857bf26_3_13"/>
          <p:cNvSpPr/>
          <p:nvPr/>
        </p:nvSpPr>
        <p:spPr>
          <a:xfrm>
            <a:off x="10030600" y="420302"/>
            <a:ext cx="4274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Nunito SemiBold"/>
              <a:buNone/>
            </a:pPr>
            <a:r>
              <a:rPr lang="en-US" sz="3800">
                <a:solidFill>
                  <a:srgbClr val="F2B42D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Semestre A26</a:t>
            </a:r>
            <a:endParaRPr i="0" sz="3800" u="none" cap="none" strike="noStrike">
              <a:solidFill>
                <a:srgbClr val="F2B42D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7" name="Google Shape;107;p2"/>
          <p:cNvPicPr preferRelativeResize="0"/>
          <p:nvPr/>
        </p:nvPicPr>
        <p:blipFill rotWithShape="1">
          <a:blip r:embed="rId3">
            <a:alphaModFix/>
          </a:blip>
          <a:srcRect b="10712" l="0" r="0" t="3525"/>
          <a:stretch/>
        </p:blipFill>
        <p:spPr>
          <a:xfrm>
            <a:off x="773900" y="19824"/>
            <a:ext cx="14630399" cy="82295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200"/>
              </a:srgbClr>
            </a:outerShdw>
          </a:effectLst>
        </p:spPr>
      </p:pic>
      <p:sp>
        <p:nvSpPr>
          <p:cNvPr id="108" name="Google Shape;108;p2"/>
          <p:cNvSpPr/>
          <p:nvPr/>
        </p:nvSpPr>
        <p:spPr>
          <a:xfrm rot="-1549118">
            <a:off x="-1892077" y="-5944839"/>
            <a:ext cx="26900705" cy="15608091"/>
          </a:xfrm>
          <a:prstGeom prst="rect">
            <a:avLst/>
          </a:prstGeom>
          <a:gradFill>
            <a:gsLst>
              <a:gs pos="0">
                <a:srgbClr val="00062E">
                  <a:alpha val="96078"/>
                </a:srgbClr>
              </a:gs>
              <a:gs pos="36000">
                <a:srgbClr val="00062E">
                  <a:alpha val="90196"/>
                </a:srgbClr>
              </a:gs>
              <a:gs pos="66000">
                <a:srgbClr val="00062E">
                  <a:alpha val="41961"/>
                </a:srgbClr>
              </a:gs>
              <a:gs pos="100000">
                <a:srgbClr val="00062E">
                  <a:alpha val="12157"/>
                </a:srgbClr>
              </a:gs>
            </a:gsLst>
            <a:lin ang="420093" scaled="0"/>
          </a:gradFill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0"/>
          </a:p>
        </p:txBody>
      </p:sp>
      <p:sp>
        <p:nvSpPr>
          <p:cNvPr id="109" name="Google Shape;109;p2"/>
          <p:cNvSpPr/>
          <p:nvPr/>
        </p:nvSpPr>
        <p:spPr>
          <a:xfrm>
            <a:off x="1239575" y="4898073"/>
            <a:ext cx="3175200" cy="279300"/>
          </a:xfrm>
          <a:prstGeom prst="roundRect">
            <a:avLst>
              <a:gd fmla="val 120009" name="adj"/>
            </a:avLst>
          </a:prstGeom>
          <a:solidFill>
            <a:srgbClr val="00002E"/>
          </a:solidFill>
          <a:ln cap="flat" cmpd="sng" w="21325">
            <a:solidFill>
              <a:srgbClr val="F2B4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350" lIns="85350" spcFirstLastPara="1" rIns="85350" wrap="square" tIns="85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7"/>
              <a:buFont typeface="Arial"/>
              <a:buNone/>
            </a:pPr>
            <a:r>
              <a:t/>
            </a:r>
            <a:endParaRPr b="0" i="0" sz="13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1239575" y="4898073"/>
            <a:ext cx="3175200" cy="279300"/>
          </a:xfrm>
          <a:prstGeom prst="roundRect">
            <a:avLst>
              <a:gd fmla="val 120009" name="adj"/>
            </a:avLst>
          </a:prstGeom>
          <a:solidFill>
            <a:srgbClr val="F2B42D"/>
          </a:solidFill>
          <a:ln>
            <a:noFill/>
          </a:ln>
        </p:spPr>
        <p:txBody>
          <a:bodyPr anchorCtr="0" anchor="ctr" bIns="85350" lIns="85350" spcFirstLastPara="1" rIns="85350" wrap="square" tIns="85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7"/>
              <a:buFont typeface="Arial"/>
              <a:buNone/>
            </a:pPr>
            <a:r>
              <a:t/>
            </a:r>
            <a:endParaRPr b="0" i="0" sz="1307" u="none" cap="none" strike="noStrike">
              <a:solidFill>
                <a:srgbClr val="000000"/>
              </a:solidFill>
              <a:highlight>
                <a:srgbClr val="F2B42D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4582200" y="4898077"/>
            <a:ext cx="6459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94"/>
              <a:buFont typeface="Nunito SemiBold"/>
              <a:buNone/>
            </a:pPr>
            <a:r>
              <a:rPr b="0" i="0" lang="en-US" sz="2194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425</a:t>
            </a:r>
            <a:endParaRPr b="0" i="0" sz="2194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1239575" y="5267697"/>
            <a:ext cx="26292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54"/>
              <a:buFont typeface="Nunito SemiBold"/>
              <a:buNone/>
            </a:pPr>
            <a:r>
              <a:rPr b="0" i="0" lang="en-US" sz="2054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Endurance</a:t>
            </a:r>
            <a:endParaRPr b="0" i="0" sz="2054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5364280" y="2602150"/>
            <a:ext cx="3175200" cy="279300"/>
          </a:xfrm>
          <a:prstGeom prst="roundRect">
            <a:avLst>
              <a:gd fmla="val 120009" name="adj"/>
            </a:avLst>
          </a:prstGeom>
          <a:noFill/>
          <a:ln cap="flat" cmpd="sng" w="21325">
            <a:solidFill>
              <a:srgbClr val="F2B4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350" lIns="85350" spcFirstLastPara="1" rIns="85350" wrap="square" tIns="85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7"/>
              <a:buFont typeface="Arial"/>
              <a:buNone/>
            </a:pPr>
            <a:r>
              <a:t/>
            </a:r>
            <a:endParaRPr b="0" i="0" sz="1307" u="none" cap="none" strike="noStrike">
              <a:solidFill>
                <a:srgbClr val="000000"/>
              </a:solidFill>
              <a:highlight>
                <a:srgbClr val="F2B42D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5364279" y="2602247"/>
            <a:ext cx="2879400" cy="279300"/>
          </a:xfrm>
          <a:prstGeom prst="roundRect">
            <a:avLst>
              <a:gd fmla="val 120009" name="adj"/>
            </a:avLst>
          </a:prstGeom>
          <a:solidFill>
            <a:srgbClr val="F2B42D"/>
          </a:solidFill>
          <a:ln>
            <a:noFill/>
          </a:ln>
        </p:spPr>
        <p:txBody>
          <a:bodyPr anchorCtr="0" anchor="ctr" bIns="85350" lIns="85350" spcFirstLastPara="1" rIns="85350" wrap="square" tIns="85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7"/>
              <a:buFont typeface="Arial"/>
              <a:buNone/>
            </a:pPr>
            <a:r>
              <a:t/>
            </a:r>
            <a:endParaRPr b="0" i="0" sz="1307" u="none" cap="none" strike="noStrike">
              <a:solidFill>
                <a:srgbClr val="000000"/>
              </a:solidFill>
              <a:highlight>
                <a:srgbClr val="F2B42D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8706901" y="2602150"/>
            <a:ext cx="7143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94"/>
              <a:buFont typeface="Nunito SemiBold"/>
              <a:buNone/>
            </a:pPr>
            <a:r>
              <a:rPr b="0" i="0" lang="en-US" sz="2194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150</a:t>
            </a:r>
            <a:endParaRPr b="0" i="0" sz="2194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5364280" y="2971774"/>
            <a:ext cx="26292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54"/>
              <a:buFont typeface="Nunito SemiBold"/>
              <a:buNone/>
            </a:pPr>
            <a:r>
              <a:rPr b="0" i="0" lang="en-US" sz="2054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Design</a:t>
            </a:r>
            <a:endParaRPr b="0" i="0" sz="2054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1239695" y="5966058"/>
            <a:ext cx="3175200" cy="279300"/>
          </a:xfrm>
          <a:prstGeom prst="roundRect">
            <a:avLst>
              <a:gd fmla="val 120009" name="adj"/>
            </a:avLst>
          </a:prstGeom>
          <a:noFill/>
          <a:ln cap="flat" cmpd="sng" w="21325">
            <a:solidFill>
              <a:srgbClr val="F2B4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350" lIns="85350" spcFirstLastPara="1" rIns="85350" wrap="square" tIns="85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7"/>
              <a:buFont typeface="Arial"/>
              <a:buNone/>
            </a:pPr>
            <a:r>
              <a:t/>
            </a:r>
            <a:endParaRPr b="0" i="0" sz="1307" u="none" cap="none" strike="noStrike">
              <a:solidFill>
                <a:srgbClr val="000000"/>
              </a:solidFill>
              <a:highlight>
                <a:srgbClr val="F2B42D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1239693" y="5966062"/>
            <a:ext cx="2210100" cy="279300"/>
          </a:xfrm>
          <a:prstGeom prst="roundRect">
            <a:avLst>
              <a:gd fmla="val 120009" name="adj"/>
            </a:avLst>
          </a:prstGeom>
          <a:solidFill>
            <a:srgbClr val="F2B42D"/>
          </a:solidFill>
          <a:ln>
            <a:noFill/>
          </a:ln>
        </p:spPr>
        <p:txBody>
          <a:bodyPr anchorCtr="0" anchor="ctr" bIns="85350" lIns="85350" spcFirstLastPara="1" rIns="85350" wrap="square" tIns="85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7"/>
              <a:buFont typeface="Arial"/>
              <a:buNone/>
            </a:pPr>
            <a:r>
              <a:t/>
            </a:r>
            <a:endParaRPr b="0" i="0" sz="1307" u="none" cap="none" strike="noStrike">
              <a:solidFill>
                <a:srgbClr val="000000"/>
              </a:solidFill>
              <a:highlight>
                <a:srgbClr val="F2B42D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4582317" y="5966058"/>
            <a:ext cx="670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94"/>
              <a:buFont typeface="Nunito SemiBold"/>
              <a:buNone/>
            </a:pPr>
            <a:r>
              <a:rPr b="0" i="0" lang="en-US" sz="2194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100</a:t>
            </a:r>
            <a:endParaRPr b="0" i="0" sz="2194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1239695" y="6363671"/>
            <a:ext cx="26292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54"/>
              <a:buFont typeface="Nunito SemiBold"/>
              <a:buNone/>
            </a:pPr>
            <a:r>
              <a:rPr b="0" i="0" lang="en-US" sz="2054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Coût</a:t>
            </a:r>
            <a:endParaRPr b="0" i="0" sz="2054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1239691" y="3731755"/>
            <a:ext cx="3175200" cy="279300"/>
          </a:xfrm>
          <a:prstGeom prst="roundRect">
            <a:avLst>
              <a:gd fmla="val 120009" name="adj"/>
            </a:avLst>
          </a:prstGeom>
          <a:noFill/>
          <a:ln cap="flat" cmpd="sng" w="21325">
            <a:solidFill>
              <a:srgbClr val="F2B4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350" lIns="85350" spcFirstLastPara="1" rIns="85350" wrap="square" tIns="85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7"/>
              <a:buFont typeface="Arial"/>
              <a:buNone/>
            </a:pPr>
            <a:r>
              <a:t/>
            </a:r>
            <a:endParaRPr b="0" i="0" sz="1307" u="none" cap="none" strike="noStrike">
              <a:solidFill>
                <a:srgbClr val="000000"/>
              </a:solidFill>
              <a:highlight>
                <a:srgbClr val="F2B42D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1239692" y="3731763"/>
            <a:ext cx="2210100" cy="279300"/>
          </a:xfrm>
          <a:prstGeom prst="roundRect">
            <a:avLst>
              <a:gd fmla="val 120009" name="adj"/>
            </a:avLst>
          </a:prstGeom>
          <a:solidFill>
            <a:srgbClr val="F2B42D"/>
          </a:solidFill>
          <a:ln>
            <a:noFill/>
          </a:ln>
        </p:spPr>
        <p:txBody>
          <a:bodyPr anchorCtr="0" anchor="ctr" bIns="85350" lIns="85350" spcFirstLastPara="1" rIns="85350" wrap="square" tIns="85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7"/>
              <a:buFont typeface="Arial"/>
              <a:buNone/>
            </a:pPr>
            <a:r>
              <a:t/>
            </a:r>
            <a:endParaRPr b="0" i="0" sz="1307" u="none" cap="none" strike="noStrike">
              <a:solidFill>
                <a:srgbClr val="000000"/>
              </a:solidFill>
              <a:highlight>
                <a:srgbClr val="F2B42D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4582312" y="3731755"/>
            <a:ext cx="6459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94"/>
              <a:buFont typeface="Nunito SemiBold"/>
              <a:buNone/>
            </a:pPr>
            <a:r>
              <a:rPr b="0" i="0" lang="en-US" sz="2194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100</a:t>
            </a:r>
            <a:endParaRPr b="0" i="0" sz="2194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1239691" y="4101379"/>
            <a:ext cx="26292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54"/>
              <a:buFont typeface="Nunito SemiBold"/>
              <a:buNone/>
            </a:pPr>
            <a:r>
              <a:rPr b="0" i="0" lang="en-US" sz="2054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Autocross</a:t>
            </a:r>
            <a:endParaRPr b="0" i="0" sz="2054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5364280" y="3731755"/>
            <a:ext cx="3342600" cy="279300"/>
          </a:xfrm>
          <a:prstGeom prst="roundRect">
            <a:avLst>
              <a:gd fmla="val 120009" name="adj"/>
            </a:avLst>
          </a:prstGeom>
          <a:noFill/>
          <a:ln cap="flat" cmpd="sng" w="21325">
            <a:solidFill>
              <a:srgbClr val="F2B4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350" lIns="85350" spcFirstLastPara="1" rIns="85350" wrap="square" tIns="85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7"/>
              <a:buFont typeface="Arial"/>
              <a:buNone/>
            </a:pPr>
            <a:r>
              <a:t/>
            </a:r>
            <a:endParaRPr b="0" i="0" sz="1307" u="none" cap="none" strike="noStrike">
              <a:solidFill>
                <a:srgbClr val="000000"/>
              </a:solidFill>
              <a:highlight>
                <a:srgbClr val="F2B42D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5364279" y="3731669"/>
            <a:ext cx="1142400" cy="279300"/>
          </a:xfrm>
          <a:prstGeom prst="roundRect">
            <a:avLst>
              <a:gd fmla="val 120009" name="adj"/>
            </a:avLst>
          </a:prstGeom>
          <a:solidFill>
            <a:srgbClr val="F2B42D"/>
          </a:solidFill>
          <a:ln>
            <a:noFill/>
          </a:ln>
        </p:spPr>
        <p:txBody>
          <a:bodyPr anchorCtr="0" anchor="ctr" bIns="85350" lIns="85350" spcFirstLastPara="1" rIns="85350" wrap="square" tIns="85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7"/>
              <a:buFont typeface="Arial"/>
              <a:buNone/>
            </a:pPr>
            <a:r>
              <a:t/>
            </a:r>
            <a:endParaRPr b="0" i="0" sz="1307" u="none" cap="none" strike="noStrike">
              <a:solidFill>
                <a:srgbClr val="000000"/>
              </a:solidFill>
              <a:highlight>
                <a:srgbClr val="F2B42D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8874410" y="3731755"/>
            <a:ext cx="447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94"/>
              <a:buFont typeface="Nunito SemiBold"/>
              <a:buNone/>
            </a:pPr>
            <a:r>
              <a:rPr b="0" i="0" lang="en-US" sz="2194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75</a:t>
            </a:r>
            <a:endParaRPr b="0" i="0" sz="2194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5364280" y="4108123"/>
            <a:ext cx="26292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54"/>
              <a:buFont typeface="Nunito SemiBold"/>
              <a:buNone/>
            </a:pPr>
            <a:r>
              <a:rPr b="0" i="0" lang="en-US" sz="2054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Accélération</a:t>
            </a:r>
            <a:endParaRPr b="0" i="0" sz="2054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5379274" y="4898209"/>
            <a:ext cx="3342600" cy="279300"/>
          </a:xfrm>
          <a:prstGeom prst="roundRect">
            <a:avLst>
              <a:gd fmla="val 120009" name="adj"/>
            </a:avLst>
          </a:prstGeom>
          <a:noFill/>
          <a:ln cap="flat" cmpd="sng" w="21325">
            <a:solidFill>
              <a:srgbClr val="F2B4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350" lIns="85350" spcFirstLastPara="1" rIns="85350" wrap="square" tIns="85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7"/>
              <a:buFont typeface="Arial"/>
              <a:buNone/>
            </a:pPr>
            <a:r>
              <a:t/>
            </a:r>
            <a:endParaRPr b="0" i="0" sz="1307" u="none" cap="none" strike="noStrike">
              <a:solidFill>
                <a:srgbClr val="000000"/>
              </a:solidFill>
              <a:highlight>
                <a:srgbClr val="F2B42D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5379271" y="4898076"/>
            <a:ext cx="1142400" cy="279300"/>
          </a:xfrm>
          <a:prstGeom prst="roundRect">
            <a:avLst>
              <a:gd fmla="val 120009" name="adj"/>
            </a:avLst>
          </a:prstGeom>
          <a:solidFill>
            <a:srgbClr val="F2B42D"/>
          </a:solidFill>
          <a:ln>
            <a:noFill/>
          </a:ln>
        </p:spPr>
        <p:txBody>
          <a:bodyPr anchorCtr="0" anchor="ctr" bIns="85350" lIns="85350" spcFirstLastPara="1" rIns="85350" wrap="square" tIns="85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7"/>
              <a:buFont typeface="Arial"/>
              <a:buNone/>
            </a:pPr>
            <a:r>
              <a:t/>
            </a:r>
            <a:endParaRPr b="0" i="0" sz="1307" u="none" cap="none" strike="noStrike">
              <a:solidFill>
                <a:srgbClr val="000000"/>
              </a:solidFill>
              <a:highlight>
                <a:srgbClr val="F2B42D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8889404" y="4898209"/>
            <a:ext cx="5028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94"/>
              <a:buFont typeface="Nunito SemiBold"/>
              <a:buNone/>
            </a:pPr>
            <a:r>
              <a:rPr b="0" i="0" lang="en-US" sz="2194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75</a:t>
            </a:r>
            <a:endParaRPr b="0" i="0" sz="2194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5379274" y="5295822"/>
            <a:ext cx="26292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54"/>
              <a:buFont typeface="Nunito SemiBold"/>
              <a:buNone/>
            </a:pPr>
            <a:r>
              <a:rPr b="0" i="0" lang="en-US" sz="2054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Skidpad</a:t>
            </a:r>
            <a:endParaRPr b="0" i="0" sz="2054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1239575" y="2602177"/>
            <a:ext cx="3342600" cy="279300"/>
          </a:xfrm>
          <a:prstGeom prst="roundRect">
            <a:avLst>
              <a:gd fmla="val 120009" name="adj"/>
            </a:avLst>
          </a:prstGeom>
          <a:noFill/>
          <a:ln cap="flat" cmpd="sng" w="21325">
            <a:solidFill>
              <a:srgbClr val="F2B4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350" lIns="85350" spcFirstLastPara="1" rIns="85350" wrap="square" tIns="85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7"/>
              <a:buFont typeface="Arial"/>
              <a:buNone/>
            </a:pPr>
            <a:r>
              <a:t/>
            </a:r>
            <a:endParaRPr b="0" i="0" sz="1307" u="none" cap="none" strike="noStrike">
              <a:solidFill>
                <a:srgbClr val="000000"/>
              </a:solidFill>
              <a:highlight>
                <a:srgbClr val="F2B42D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1239576" y="2602213"/>
            <a:ext cx="1142400" cy="279300"/>
          </a:xfrm>
          <a:prstGeom prst="roundRect">
            <a:avLst>
              <a:gd fmla="val 120009" name="adj"/>
            </a:avLst>
          </a:prstGeom>
          <a:solidFill>
            <a:srgbClr val="F2B42D"/>
          </a:solidFill>
          <a:ln>
            <a:noFill/>
          </a:ln>
        </p:spPr>
        <p:txBody>
          <a:bodyPr anchorCtr="0" anchor="ctr" bIns="85350" lIns="85350" spcFirstLastPara="1" rIns="85350" wrap="square" tIns="85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7"/>
              <a:buFont typeface="Arial"/>
              <a:buNone/>
            </a:pPr>
            <a:r>
              <a:t/>
            </a:r>
            <a:endParaRPr b="0" i="0" sz="1307" u="none" cap="none" strike="noStrike">
              <a:solidFill>
                <a:srgbClr val="000000"/>
              </a:solidFill>
              <a:highlight>
                <a:srgbClr val="F2B42D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4749703" y="2602177"/>
            <a:ext cx="5028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94"/>
              <a:buFont typeface="Nunito SemiBold"/>
              <a:buNone/>
            </a:pPr>
            <a:r>
              <a:rPr b="0" i="0" lang="en-US" sz="2194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75</a:t>
            </a:r>
            <a:endParaRPr b="0" i="0" sz="2194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1239575" y="2978799"/>
            <a:ext cx="26292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54"/>
              <a:buFont typeface="Nunito SemiBold"/>
              <a:buNone/>
            </a:pPr>
            <a:r>
              <a:rPr b="0" i="0" lang="en-US" sz="2054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Business Plan</a:t>
            </a:r>
            <a:endParaRPr b="0" i="0" sz="2054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992175" y="813275"/>
            <a:ext cx="9511800" cy="11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6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50">
                <a:solidFill>
                  <a:schemeClr val="lt1"/>
                </a:solidFill>
                <a:latin typeface="DM Sans Black"/>
                <a:ea typeface="DM Sans Black"/>
                <a:cs typeface="DM Sans Black"/>
                <a:sym typeface="DM Sans Black"/>
              </a:rPr>
              <a:t>Résultats au </a:t>
            </a:r>
            <a:r>
              <a:rPr lang="en-US" sz="5950">
                <a:solidFill>
                  <a:schemeClr val="lt1"/>
                </a:solidFill>
                <a:latin typeface="DM Sans Black"/>
                <a:ea typeface="DM Sans Black"/>
                <a:cs typeface="DM Sans Black"/>
                <a:sym typeface="DM Sans Black"/>
              </a:rPr>
              <a:t>FSATA 2024</a:t>
            </a:r>
            <a:endParaRPr sz="3500"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6718100" y="6064650"/>
            <a:ext cx="8686200" cy="19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06400" lvl="0" marL="45720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SemiBold"/>
              <a:buChar char="-"/>
            </a:pPr>
            <a:r>
              <a:rPr b="0" i="0" lang="en-US" sz="28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4ᵉ place au Business Plan</a:t>
            </a:r>
            <a:endParaRPr sz="2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406400" lvl="0" marL="45720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SemiBold"/>
              <a:buChar char="-"/>
            </a:pPr>
            <a:r>
              <a:rPr b="0" i="0" lang="en-US" sz="28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10ᵉ place en Engineering Design</a:t>
            </a:r>
            <a:endParaRPr b="0" i="0" sz="2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406400" lvl="0" marL="45720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SemiBold"/>
              <a:buChar char="-"/>
            </a:pPr>
            <a:r>
              <a:rPr b="0" i="0" lang="en-US" sz="28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15ᵉ place au Cost</a:t>
            </a:r>
            <a:endParaRPr sz="2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2C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1" title="6L7A851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5345" y="0"/>
            <a:ext cx="5485061" cy="8229601"/>
          </a:xfrm>
          <a:prstGeom prst="rect">
            <a:avLst/>
          </a:prstGeom>
          <a:solidFill>
            <a:srgbClr val="00062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6" name="Google Shape;146;p1"/>
          <p:cNvSpPr/>
          <p:nvPr/>
        </p:nvSpPr>
        <p:spPr>
          <a:xfrm>
            <a:off x="680250" y="1685459"/>
            <a:ext cx="81669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Nunito SemiBold"/>
              <a:buNone/>
            </a:pPr>
            <a:r>
              <a:rPr lang="en-US" sz="5500">
                <a:solidFill>
                  <a:srgbClr val="05072C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Objectif : Italie 2027</a:t>
            </a:r>
            <a:endParaRPr sz="5500">
              <a:solidFill>
                <a:srgbClr val="05072C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147" name="Google Shape;147;p1"/>
          <p:cNvSpPr/>
          <p:nvPr/>
        </p:nvSpPr>
        <p:spPr>
          <a:xfrm>
            <a:off x="680250" y="2817721"/>
            <a:ext cx="8020500" cy="7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Nunito SemiBold"/>
              <a:buNone/>
            </a:pPr>
            <a:r>
              <a:rPr i="0" lang="en-US" sz="3200" u="none" cap="none" strike="noStrike">
                <a:solidFill>
                  <a:srgbClr val="05072C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Performance et Activités Clés de la FS01</a:t>
            </a:r>
            <a:endParaRPr i="0" sz="3200" u="none" cap="none" strike="noStrike">
              <a:solidFill>
                <a:srgbClr val="05072C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148" name="Google Shape;148;p1"/>
          <p:cNvSpPr/>
          <p:nvPr/>
        </p:nvSpPr>
        <p:spPr>
          <a:xfrm>
            <a:off x="753445" y="3719946"/>
            <a:ext cx="8020500" cy="18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00050" lvl="0" marL="34290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05072C"/>
              </a:buClr>
              <a:buSzPts val="2500"/>
              <a:buFont typeface="DM Sans SemiBold"/>
              <a:buChar char="•"/>
            </a:pPr>
            <a:r>
              <a:rPr i="0" lang="en-US" sz="2500" u="none" cap="none" strike="noStrike">
                <a:solidFill>
                  <a:srgbClr val="05072C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Essais </a:t>
            </a:r>
            <a:r>
              <a:rPr lang="en-US" sz="2500">
                <a:solidFill>
                  <a:srgbClr val="05072C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réguliers </a:t>
            </a:r>
            <a:r>
              <a:rPr i="0" lang="en-US" sz="2500" u="none" cap="none" strike="noStrike">
                <a:solidFill>
                  <a:srgbClr val="05072C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sur les circuit de Poclain Hydraulics</a:t>
            </a:r>
            <a:r>
              <a:rPr lang="en-US" sz="2500">
                <a:solidFill>
                  <a:srgbClr val="05072C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,</a:t>
            </a:r>
            <a:r>
              <a:rPr i="0" lang="en-US" sz="2500" u="none" cap="none" strike="noStrike">
                <a:solidFill>
                  <a:srgbClr val="05072C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 Valeo et M</a:t>
            </a:r>
            <a:r>
              <a:rPr lang="en-US" sz="2500">
                <a:solidFill>
                  <a:srgbClr val="05072C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a</a:t>
            </a:r>
            <a:r>
              <a:rPr i="0" lang="en-US" sz="2500" u="none" cap="none" strike="noStrike">
                <a:solidFill>
                  <a:srgbClr val="05072C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gny-Cours</a:t>
            </a:r>
            <a:endParaRPr sz="2500">
              <a:solidFill>
                <a:srgbClr val="05072C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-400050" lvl="0" marL="34290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05072C"/>
              </a:buClr>
              <a:buSzPts val="2500"/>
              <a:buFont typeface="DM Sans SemiBold"/>
              <a:buChar char="•"/>
            </a:pPr>
            <a:r>
              <a:rPr i="0" lang="en-US" sz="2500" u="none" cap="none" strike="noStrike">
                <a:solidFill>
                  <a:srgbClr val="05072C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Participation au Formula Student 2024 en Italie</a:t>
            </a:r>
            <a:endParaRPr i="0" sz="2500" u="none" cap="none" strike="noStrike">
              <a:solidFill>
                <a:srgbClr val="05072C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149" name="Google Shape;149;p1"/>
          <p:cNvSpPr/>
          <p:nvPr/>
        </p:nvSpPr>
        <p:spPr>
          <a:xfrm>
            <a:off x="899971" y="5654178"/>
            <a:ext cx="7005000" cy="12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T Sans"/>
              <a:buNone/>
            </a:pPr>
            <a:r>
              <a:rPr lang="en-US" sz="2500">
                <a:solidFill>
                  <a:srgbClr val="05072C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Ce semestre: finition et mise au norme de la voiture.</a:t>
            </a:r>
            <a:endParaRPr i="0" sz="2500" u="none" cap="none" strike="noStrike">
              <a:solidFill>
                <a:srgbClr val="05072C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150" name="Google Shape;150;p1"/>
          <p:cNvSpPr/>
          <p:nvPr/>
        </p:nvSpPr>
        <p:spPr>
          <a:xfrm>
            <a:off x="542050" y="394425"/>
            <a:ext cx="18648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Nunito SemiBold"/>
              <a:buNone/>
            </a:pPr>
            <a:r>
              <a:rPr lang="en-US" sz="5500">
                <a:solidFill>
                  <a:srgbClr val="F2B42D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FS01</a:t>
            </a:r>
            <a:endParaRPr sz="5500">
              <a:solidFill>
                <a:srgbClr val="F2B42D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157" name="Google Shape;157;p4"/>
          <p:cNvSpPr/>
          <p:nvPr/>
        </p:nvSpPr>
        <p:spPr>
          <a:xfrm rot="-9664788">
            <a:off x="-6795351" y="-5585380"/>
            <a:ext cx="23176500" cy="15608011"/>
          </a:xfrm>
          <a:prstGeom prst="rect">
            <a:avLst/>
          </a:prstGeom>
          <a:gradFill>
            <a:gsLst>
              <a:gs pos="0">
                <a:srgbClr val="00062E">
                  <a:alpha val="96078"/>
                </a:srgbClr>
              </a:gs>
              <a:gs pos="36000">
                <a:srgbClr val="00062E">
                  <a:alpha val="90196"/>
                </a:srgbClr>
              </a:gs>
              <a:gs pos="66000">
                <a:srgbClr val="00062E">
                  <a:alpha val="41961"/>
                </a:srgbClr>
              </a:gs>
              <a:gs pos="100000">
                <a:srgbClr val="00062E">
                  <a:alpha val="12157"/>
                </a:srgbClr>
              </a:gs>
            </a:gsLst>
            <a:lin ang="420093" scaled="0"/>
          </a:gradFill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0"/>
          </a:p>
        </p:txBody>
      </p:sp>
      <p:sp>
        <p:nvSpPr>
          <p:cNvPr id="158" name="Google Shape;158;p4"/>
          <p:cNvSpPr/>
          <p:nvPr/>
        </p:nvSpPr>
        <p:spPr>
          <a:xfrm>
            <a:off x="5246075" y="958975"/>
            <a:ext cx="88656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46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50"/>
              <a:buFont typeface="Nunito SemiBold"/>
              <a:buNone/>
            </a:pPr>
            <a:r>
              <a:rPr lang="en-US" sz="3850">
                <a:solidFill>
                  <a:schemeClr val="lt1"/>
                </a:solidFill>
                <a:latin typeface="DM Sans Black"/>
                <a:ea typeface="DM Sans Black"/>
                <a:cs typeface="DM Sans Black"/>
                <a:sym typeface="DM Sans Black"/>
              </a:rPr>
              <a:t>Journée presse à </a:t>
            </a:r>
            <a:r>
              <a:rPr i="0" lang="en-US" sz="3850" u="none" cap="none" strike="noStrike">
                <a:solidFill>
                  <a:schemeClr val="lt1"/>
                </a:solidFill>
                <a:latin typeface="DM Sans Black"/>
                <a:ea typeface="DM Sans Black"/>
                <a:cs typeface="DM Sans Black"/>
                <a:sym typeface="DM Sans Black"/>
              </a:rPr>
              <a:t>Magny-Cours</a:t>
            </a:r>
            <a:endParaRPr sz="3850">
              <a:solidFill>
                <a:schemeClr val="lt1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pic>
        <p:nvPicPr>
          <p:cNvPr id="159" name="Google Shape;15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6598" y="2783493"/>
            <a:ext cx="5511455" cy="340931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160" name="Google Shape;160;p4"/>
          <p:cNvSpPr txBox="1"/>
          <p:nvPr/>
        </p:nvSpPr>
        <p:spPr>
          <a:xfrm>
            <a:off x="7604950" y="2783500"/>
            <a:ext cx="5904300" cy="39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6075" lvl="0" marL="45720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FEFCEB"/>
              </a:buClr>
              <a:buSzPts val="1850"/>
              <a:buFont typeface="DM Sans SemiBold"/>
              <a:buChar char="•"/>
            </a:pPr>
            <a:r>
              <a:rPr i="0" lang="en-US" sz="1850" u="none" cap="none" strike="noStrike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Grande capacité d’adaptation et de réparation de l’équipe</a:t>
            </a:r>
            <a:endParaRPr i="0" sz="1850" u="none" cap="none" strike="noStrike">
              <a:solidFill>
                <a:schemeClr val="lt1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-346075" lvl="0" marL="45720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FEFCEB"/>
              </a:buClr>
              <a:buSzPts val="1850"/>
              <a:buFont typeface="DM Sans SemiBold"/>
              <a:buChar char="•"/>
            </a:pPr>
            <a:r>
              <a:rPr i="0" lang="en-US" sz="1850" u="none" cap="none" strike="noStrike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Scruteenering de la voiture et ajustement des objectifs</a:t>
            </a:r>
            <a:endParaRPr i="0" sz="1850" u="none" cap="none" strike="noStrike">
              <a:solidFill>
                <a:schemeClr val="lt1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-346075" lvl="0" marL="45720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DM Sans SemiBold"/>
              <a:buChar char="•"/>
            </a:pPr>
            <a:r>
              <a:rPr lang="en-US" sz="185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Team building dans un cadre d’exception</a:t>
            </a:r>
            <a:endParaRPr sz="1850">
              <a:solidFill>
                <a:schemeClr val="lt1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-346075" lvl="0" marL="45720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DM Sans SemiBold"/>
              <a:buChar char="•"/>
            </a:pPr>
            <a:r>
              <a:rPr lang="en-US" sz="185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Echange avec les autres équipes, découverte de leurs voitures</a:t>
            </a:r>
            <a:endParaRPr sz="1850">
              <a:solidFill>
                <a:schemeClr val="lt1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-346075" lvl="0" marL="45720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DM Sans SemiBold"/>
              <a:buChar char="•"/>
            </a:pPr>
            <a:r>
              <a:rPr lang="en-US" sz="185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L’occasion de rouler la FS01 sur un circuit mythique</a:t>
            </a:r>
            <a:endParaRPr sz="1850">
              <a:solidFill>
                <a:schemeClr val="lt1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542050" y="394425"/>
            <a:ext cx="18648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Nunito SemiBold"/>
              <a:buNone/>
            </a:pPr>
            <a:r>
              <a:rPr lang="en-US" sz="5500">
                <a:solidFill>
                  <a:srgbClr val="F2B42D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FS01</a:t>
            </a:r>
            <a:endParaRPr sz="5500">
              <a:solidFill>
                <a:srgbClr val="F2B42D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407650" y="1108050"/>
            <a:ext cx="95223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50"/>
              <a:buFont typeface="Nunito SemiBold"/>
              <a:buNone/>
            </a:pPr>
            <a:r>
              <a:rPr i="0" lang="en-US" sz="3850" u="none" cap="none" strike="noStrike">
                <a:solidFill>
                  <a:srgbClr val="05072C"/>
                </a:solidFill>
                <a:latin typeface="DM Sans Black"/>
                <a:ea typeface="DM Sans Black"/>
                <a:cs typeface="DM Sans Black"/>
                <a:sym typeface="DM Sans Black"/>
              </a:rPr>
              <a:t>Valeo A</a:t>
            </a:r>
            <a:r>
              <a:rPr lang="en-US" sz="3850">
                <a:solidFill>
                  <a:srgbClr val="05072C"/>
                </a:solidFill>
                <a:latin typeface="DM Sans Black"/>
                <a:ea typeface="DM Sans Black"/>
                <a:cs typeface="DM Sans Black"/>
                <a:sym typeface="DM Sans Black"/>
              </a:rPr>
              <a:t>26</a:t>
            </a:r>
            <a:r>
              <a:rPr i="0" lang="en-US" sz="3850" u="none" cap="none" strike="noStrike">
                <a:solidFill>
                  <a:srgbClr val="05072C"/>
                </a:solidFill>
                <a:latin typeface="DM Sans Black"/>
                <a:ea typeface="DM Sans Black"/>
                <a:cs typeface="DM Sans Black"/>
                <a:sym typeface="DM Sans Black"/>
              </a:rPr>
              <a:t> - </a:t>
            </a:r>
            <a:r>
              <a:rPr lang="en-US" sz="3850">
                <a:solidFill>
                  <a:srgbClr val="05072C"/>
                </a:solidFill>
                <a:latin typeface="DM Sans Black"/>
                <a:ea typeface="DM Sans Black"/>
                <a:cs typeface="DM Sans Black"/>
                <a:sym typeface="DM Sans Black"/>
              </a:rPr>
              <a:t>Journée complète de tests</a:t>
            </a:r>
            <a:endParaRPr i="0" sz="3850" u="none" cap="none" strike="noStrike">
              <a:solidFill>
                <a:srgbClr val="05072C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69" name="Google Shape;169;p5"/>
          <p:cNvSpPr txBox="1"/>
          <p:nvPr/>
        </p:nvSpPr>
        <p:spPr>
          <a:xfrm>
            <a:off x="731975" y="3186650"/>
            <a:ext cx="4308300" cy="3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8775" lvl="0" marL="45720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05072C"/>
              </a:buClr>
              <a:buSzPts val="2050"/>
              <a:buFont typeface="Montserrat SemiBold"/>
              <a:buChar char="•"/>
            </a:pPr>
            <a:r>
              <a:rPr b="0" i="0" lang="en-US" sz="2050" u="none" cap="none" strike="noStrike">
                <a:solidFill>
                  <a:srgbClr val="05072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Premier roulage à haute vitesse</a:t>
            </a:r>
            <a:endParaRPr sz="2050">
              <a:solidFill>
                <a:srgbClr val="05072C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58775" lvl="0" marL="45720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05072C"/>
              </a:buClr>
              <a:buSzPts val="2050"/>
              <a:buFont typeface="Montserrat SemiBold"/>
              <a:buChar char="•"/>
            </a:pPr>
            <a:r>
              <a:rPr lang="en-US" sz="2050">
                <a:solidFill>
                  <a:srgbClr val="05072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Détection des points d’amélioration</a:t>
            </a:r>
            <a:endParaRPr sz="2050">
              <a:solidFill>
                <a:srgbClr val="05072C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58775" lvl="0" marL="45720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05072C"/>
              </a:buClr>
              <a:buSzPts val="2050"/>
              <a:buFont typeface="Montserrat SemiBold"/>
              <a:buChar char="•"/>
            </a:pPr>
            <a:r>
              <a:rPr lang="en-US" sz="2050">
                <a:solidFill>
                  <a:srgbClr val="05072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Bilan du semestre P26, et de l’avancement de la FS01</a:t>
            </a:r>
            <a:endParaRPr b="0" i="0" sz="2050" u="none" cap="none" strike="noStrike">
              <a:solidFill>
                <a:srgbClr val="05072C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28600" lvl="0" marL="45720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FEFCEB"/>
              </a:buClr>
              <a:buSzPts val="1850"/>
              <a:buFont typeface="Montserrat SemiBold"/>
              <a:buNone/>
            </a:pPr>
            <a:r>
              <a:t/>
            </a:r>
            <a:endParaRPr b="0" i="0" sz="2050" u="none" cap="none" strike="noStrike">
              <a:solidFill>
                <a:srgbClr val="05072C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70" name="Google Shape;17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8125" y="2289299"/>
            <a:ext cx="7990702" cy="5194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5"/>
          <p:cNvSpPr/>
          <p:nvPr/>
        </p:nvSpPr>
        <p:spPr>
          <a:xfrm>
            <a:off x="542050" y="394425"/>
            <a:ext cx="18648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Nunito SemiBold"/>
              <a:buNone/>
            </a:pPr>
            <a:r>
              <a:rPr lang="en-US" sz="5500">
                <a:solidFill>
                  <a:srgbClr val="F2B42D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FS01</a:t>
            </a:r>
            <a:endParaRPr sz="5500">
              <a:solidFill>
                <a:srgbClr val="F2B42D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62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837724" y="489057"/>
            <a:ext cx="111078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Nunito SemiBold"/>
              <a:buNone/>
            </a:pPr>
            <a:r>
              <a:rPr lang="en-US" sz="4400">
                <a:solidFill>
                  <a:schemeClr val="lt1"/>
                </a:solidFill>
              </a:rPr>
              <a:t>Taches sur la </a:t>
            </a:r>
            <a:r>
              <a:rPr b="0" i="0" lang="en-US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FS01 :</a:t>
            </a:r>
            <a:endParaRPr b="0" i="0" sz="4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8" title="image (2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23125" y="7483299"/>
            <a:ext cx="1706850" cy="6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8"/>
          <p:cNvSpPr/>
          <p:nvPr/>
        </p:nvSpPr>
        <p:spPr>
          <a:xfrm>
            <a:off x="837725" y="2485550"/>
            <a:ext cx="90846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6075" lvl="0" marL="4572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FEFCEB"/>
              </a:buClr>
              <a:buSzPts val="1850"/>
              <a:buFont typeface="Montserrat SemiBold"/>
              <a:buChar char="-"/>
            </a:pPr>
            <a:r>
              <a:rPr lang="en-US" sz="185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Remise aux normes pour passer le Scrutineering (Bricolage)</a:t>
            </a:r>
            <a:endParaRPr sz="185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46075" lvl="0" marL="4572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Montserrat SemiBold"/>
              <a:buChar char="-"/>
            </a:pPr>
            <a:r>
              <a:rPr lang="en-US" sz="185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Finition et installation de l’aileron</a:t>
            </a:r>
            <a:endParaRPr sz="185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46075" lvl="0" marL="4572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Montserrat SemiBold"/>
              <a:buChar char="-"/>
            </a:pPr>
            <a:r>
              <a:rPr lang="en-US" sz="185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Amélioration électroniques : fiabilisation, ajout d’un écran sur le volant</a:t>
            </a:r>
            <a:endParaRPr sz="185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46075" lvl="0" marL="4572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Montserrat SemiBold"/>
              <a:buChar char="-"/>
            </a:pPr>
            <a:r>
              <a:rPr lang="en-US" sz="185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Modélisation de petites pièces CAO</a:t>
            </a:r>
            <a:endParaRPr sz="185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46075" lvl="0" marL="4572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Montserrat SemiBold"/>
              <a:buChar char="-"/>
            </a:pPr>
            <a:r>
              <a:rPr lang="en-US" sz="185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Modélisation et réalisation d’un baquet carbone</a:t>
            </a:r>
            <a:endParaRPr sz="185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46075" lvl="0" marL="4572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Montserrat SemiBold"/>
              <a:buChar char="-"/>
            </a:pPr>
            <a:r>
              <a:rPr lang="en-US" sz="185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Remise aux normes du réservoir</a:t>
            </a:r>
            <a:endParaRPr sz="185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46075" lvl="0" marL="4572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Montserrat SemiBold"/>
              <a:buChar char="-"/>
            </a:pPr>
            <a:r>
              <a:rPr lang="en-US" sz="185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Modification du nez</a:t>
            </a:r>
            <a:endParaRPr sz="185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46075" lvl="0" marL="4572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Montserrat SemiBold"/>
              <a:buChar char="-"/>
            </a:pPr>
            <a:r>
              <a:rPr lang="en-US" sz="185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Fiabilisation mécanique</a:t>
            </a:r>
            <a:endParaRPr sz="185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PT Sans"/>
              <a:buNone/>
            </a:pPr>
            <a:r>
              <a:t/>
            </a:r>
            <a:endParaRPr b="0" i="0" sz="185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PT Sans"/>
              <a:buNone/>
            </a:pPr>
            <a:r>
              <a:t/>
            </a:r>
            <a:endParaRPr b="0" i="0" sz="185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837724" y="1493057"/>
            <a:ext cx="129549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PT Sans"/>
              <a:buNone/>
            </a:pPr>
            <a:r>
              <a:rPr b="0" i="0" lang="en-US" sz="185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Une voiture </a:t>
            </a:r>
            <a:r>
              <a:rPr lang="en-US" sz="185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attachante et performante</a:t>
            </a:r>
            <a:endParaRPr b="0" i="0" sz="185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2" name="Google Shape;182;p8" title="1000024199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66650" y="563750"/>
            <a:ext cx="3920652" cy="5873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8" title="1000024024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2000" y="4817175"/>
            <a:ext cx="4986040" cy="3328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837725" y="489042"/>
            <a:ext cx="11107800" cy="14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Nunito SemiBold"/>
              <a:buNone/>
            </a:pPr>
            <a:r>
              <a:rPr lang="en-US" sz="4400">
                <a:solidFill>
                  <a:srgbClr val="05072C"/>
                </a:solidFill>
              </a:rPr>
              <a:t>La </a:t>
            </a:r>
            <a:r>
              <a:rPr b="0" i="0" lang="en-US" sz="4400" u="none" cap="none" strike="noStrike">
                <a:solidFill>
                  <a:srgbClr val="05072C"/>
                </a:solidFill>
                <a:latin typeface="Arial"/>
                <a:ea typeface="Arial"/>
                <a:cs typeface="Arial"/>
                <a:sym typeface="Arial"/>
              </a:rPr>
              <a:t>FS02 : L'Avenir Électrique</a:t>
            </a:r>
            <a:endParaRPr b="0" i="0" sz="4400" u="none" cap="none" strike="noStrike">
              <a:solidFill>
                <a:srgbClr val="05072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Nunito SemiBold"/>
              <a:buNone/>
            </a:pPr>
            <a:r>
              <a:rPr lang="en-US" sz="4400">
                <a:solidFill>
                  <a:srgbClr val="05072C"/>
                </a:solidFill>
              </a:rPr>
              <a:t>Continuité par rapport au semestre P26</a:t>
            </a:r>
            <a:endParaRPr sz="4400">
              <a:solidFill>
                <a:srgbClr val="05072C"/>
              </a:solidFill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837724" y="2133124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PT Sans"/>
              <a:buNone/>
            </a:pPr>
            <a:r>
              <a:rPr b="0" i="0" lang="en-US" sz="1850" u="none" cap="none" strike="noStrike">
                <a:solidFill>
                  <a:srgbClr val="05072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La FS02, notre nouvelle monoplace 100% électrique, représente un projet d'innovation majeur.</a:t>
            </a:r>
            <a:endParaRPr b="0" i="0" sz="1850" u="none" cap="none" strike="noStrike">
              <a:solidFill>
                <a:srgbClr val="05072C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837725" y="2785350"/>
            <a:ext cx="121800" cy="2167500"/>
          </a:xfrm>
          <a:prstGeom prst="roundRect">
            <a:avLst>
              <a:gd fmla="val 294514" name="adj"/>
            </a:avLst>
          </a:prstGeom>
          <a:solidFill>
            <a:srgbClr val="F2B4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1218416" y="2833576"/>
            <a:ext cx="5596500" cy="9205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Nunito SemiBold"/>
              <a:buNone/>
            </a:pPr>
            <a:r>
              <a:rPr b="0" i="0" lang="en-US" sz="2200" u="none" cap="none" strike="noStrike">
                <a:solidFill>
                  <a:srgbClr val="00114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Design du Groupe MotoPropulseur Électrique</a:t>
            </a:r>
            <a:endParaRPr b="0" i="0" sz="2200" u="none" cap="none" strike="noStrike">
              <a:solidFill>
                <a:srgbClr val="001145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1079288" y="3633963"/>
            <a:ext cx="6235800" cy="13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Montserrat Medium"/>
              <a:buChar char="•"/>
            </a:pPr>
            <a:r>
              <a:rPr lang="en-US" sz="185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Design du battery pack </a:t>
            </a:r>
            <a:endParaRPr sz="185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Montserrat Medium"/>
              <a:buChar char="•"/>
            </a:pPr>
            <a:r>
              <a:rPr lang="en-US" sz="185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Choix des VCU et ECU</a:t>
            </a:r>
            <a:endParaRPr sz="185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Montserrat Medium"/>
              <a:buChar char="•"/>
            </a:pPr>
            <a:r>
              <a:rPr b="0" i="0" lang="en-US" sz="185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Étude du BMS avec des enseignants chercheurs</a:t>
            </a:r>
            <a:endParaRPr sz="185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8071101" y="2871826"/>
            <a:ext cx="67278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Nunito SemiBold"/>
              <a:buNone/>
            </a:pPr>
            <a:r>
              <a:rPr b="0" i="0" lang="en-US" sz="2200" u="none" cap="none" strike="noStrike">
                <a:solidFill>
                  <a:srgbClr val="00114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Chassis</a:t>
            </a:r>
            <a:endParaRPr b="0" i="0" sz="2200" u="none" cap="none" strike="noStrike">
              <a:solidFill>
                <a:srgbClr val="001145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8071100" y="3225463"/>
            <a:ext cx="5726700" cy="18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60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Montserrat Medium"/>
              <a:buChar char="•"/>
            </a:pPr>
            <a:r>
              <a:rPr lang="en-US" sz="185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Design basé sur la FS01 et prise en compte des remarques</a:t>
            </a:r>
            <a:endParaRPr sz="185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Montserrat Medium"/>
              <a:buChar char="•"/>
            </a:pPr>
            <a:r>
              <a:rPr i="0" lang="en-US" sz="185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Itération pour intégration du GMPE</a:t>
            </a:r>
            <a:endParaRPr i="0" sz="185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5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⇒ Objectif simulation fin de semestre</a:t>
            </a:r>
            <a:endParaRPr sz="185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97" name="Google Shape;197;p6" title="image (2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23125" y="7483299"/>
            <a:ext cx="1706850" cy="6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5674" y="5222050"/>
            <a:ext cx="3723054" cy="24682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199" name="Google Shape;199;p6"/>
          <p:cNvSpPr/>
          <p:nvPr/>
        </p:nvSpPr>
        <p:spPr>
          <a:xfrm>
            <a:off x="7800288" y="2696838"/>
            <a:ext cx="121800" cy="2167500"/>
          </a:xfrm>
          <a:prstGeom prst="roundRect">
            <a:avLst>
              <a:gd fmla="val 294514" name="adj"/>
            </a:avLst>
          </a:prstGeom>
          <a:solidFill>
            <a:srgbClr val="F2B4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89713" y="5222050"/>
            <a:ext cx="2689485" cy="2468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837725" y="489054"/>
            <a:ext cx="11107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Nunito SemiBold"/>
              <a:buNone/>
            </a:pPr>
            <a:r>
              <a:rPr b="0" i="0" lang="en-US" sz="4400" u="none" cap="none" strike="noStrike">
                <a:solidFill>
                  <a:srgbClr val="05072C"/>
                </a:solidFill>
                <a:latin typeface="Arial"/>
                <a:ea typeface="Arial"/>
                <a:cs typeface="Arial"/>
                <a:sym typeface="Arial"/>
              </a:rPr>
              <a:t>Objectifs FS02 : L'Avenir Électrique</a:t>
            </a:r>
            <a:endParaRPr b="0" i="0" sz="4400" u="none" cap="none" strike="noStrike">
              <a:solidFill>
                <a:srgbClr val="05072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7" title="image (2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23125" y="7483299"/>
            <a:ext cx="1706850" cy="6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7"/>
          <p:cNvSpPr/>
          <p:nvPr/>
        </p:nvSpPr>
        <p:spPr>
          <a:xfrm>
            <a:off x="837749" y="1457232"/>
            <a:ext cx="129549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PT Sans"/>
              <a:buNone/>
            </a:pPr>
            <a:r>
              <a:rPr b="0" i="0" lang="en-US" sz="1850" u="none" cap="none" strike="noStrike">
                <a:solidFill>
                  <a:srgbClr val="05072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Un élan collectif nous propulse vers de nouveaux défis technologiques.</a:t>
            </a:r>
            <a:endParaRPr b="0" i="0" sz="1850" u="none" cap="none" strike="noStrike">
              <a:solidFill>
                <a:srgbClr val="05072C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10" name="Google Shape;210;p7"/>
          <p:cNvPicPr preferRelativeResize="0"/>
          <p:nvPr/>
        </p:nvPicPr>
        <p:blipFill rotWithShape="1">
          <a:blip r:embed="rId4">
            <a:alphaModFix/>
          </a:blip>
          <a:srcRect b="14989" l="0" r="0" t="38476"/>
          <a:stretch/>
        </p:blipFill>
        <p:spPr>
          <a:xfrm>
            <a:off x="7203700" y="5811625"/>
            <a:ext cx="3676376" cy="11756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211" name="Google Shape;211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73273" y="2559198"/>
            <a:ext cx="2925725" cy="45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03704" y="2571897"/>
            <a:ext cx="3676375" cy="300889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7"/>
          <p:cNvSpPr/>
          <p:nvPr/>
        </p:nvSpPr>
        <p:spPr>
          <a:xfrm>
            <a:off x="1229459" y="2839639"/>
            <a:ext cx="67278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Nunito SemiBold"/>
              <a:buNone/>
            </a:pPr>
            <a:r>
              <a:rPr b="0" i="0" lang="en-US" sz="2200" u="none" cap="none" strike="noStrike">
                <a:solidFill>
                  <a:srgbClr val="00114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Liaisons au sol (LAS)</a:t>
            </a:r>
            <a:endParaRPr b="0" i="0" sz="2200" u="none" cap="none" strike="noStrike">
              <a:solidFill>
                <a:srgbClr val="001145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Nunito SemiBold"/>
              <a:buNone/>
            </a:pPr>
            <a:r>
              <a:t/>
            </a:r>
            <a:endParaRPr b="0" i="0" sz="2200" u="none" cap="none" strike="noStrike">
              <a:solidFill>
                <a:srgbClr val="001145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1183800" y="3271895"/>
            <a:ext cx="5726700" cy="26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6075" lvl="0" marL="4572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Montserrat Medium"/>
              <a:buChar char="•"/>
            </a:pPr>
            <a:r>
              <a:rPr lang="en-US" sz="185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Squelette basé sur l’étude géométrique</a:t>
            </a:r>
            <a:endParaRPr sz="185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6075" lvl="0" marL="4572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Montserrat Medium"/>
              <a:buChar char="•"/>
            </a:pPr>
            <a:r>
              <a:rPr lang="en-US" sz="185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Design du système d’amortissement</a:t>
            </a:r>
            <a:endParaRPr sz="185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6075" lvl="0" marL="4572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Montserrat Medium"/>
              <a:buChar char="•"/>
            </a:pPr>
            <a:r>
              <a:rPr lang="en-US" sz="185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Etude de faisabilité direction</a:t>
            </a:r>
            <a:endParaRPr sz="185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6075" lvl="0" marL="4572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Montserrat Medium"/>
              <a:buChar char="•"/>
            </a:pPr>
            <a:r>
              <a:rPr lang="en-US" sz="185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Etude de faisabilité système de direction</a:t>
            </a:r>
            <a:endParaRPr sz="185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6075" lvl="0" marL="4572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Montserrat Medium"/>
              <a:buChar char="•"/>
            </a:pPr>
            <a:r>
              <a:rPr lang="en-US" sz="185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Etude de faisabilité porte moyeu</a:t>
            </a:r>
            <a:endParaRPr sz="185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=&gt; Objectif design des premiers éléments</a:t>
            </a:r>
            <a:endParaRPr sz="185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837725" y="2764175"/>
            <a:ext cx="199500" cy="3204300"/>
          </a:xfrm>
          <a:prstGeom prst="roundRect">
            <a:avLst>
              <a:gd fmla="val 294514" name="adj"/>
            </a:avLst>
          </a:prstGeom>
          <a:solidFill>
            <a:srgbClr val="F2B4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"/>
          <p:cNvSpPr/>
          <p:nvPr/>
        </p:nvSpPr>
        <p:spPr>
          <a:xfrm>
            <a:off x="408225" y="0"/>
            <a:ext cx="14630400" cy="8229600"/>
          </a:xfrm>
          <a:prstGeom prst="rect">
            <a:avLst/>
          </a:prstGeom>
          <a:solidFill>
            <a:srgbClr val="00062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5059594" y="629050"/>
            <a:ext cx="11374500" cy="13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Nunito SemiBold"/>
              <a:buNone/>
            </a:pPr>
            <a:r>
              <a:rPr b="0" i="0" lang="en-US" sz="5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 team opération</a:t>
            </a:r>
            <a:endParaRPr b="0" i="0" sz="5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9" title="image (2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23125" y="7483299"/>
            <a:ext cx="1706850" cy="6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9"/>
          <p:cNvSpPr txBox="1"/>
          <p:nvPr/>
        </p:nvSpPr>
        <p:spPr>
          <a:xfrm>
            <a:off x="4969794" y="2171675"/>
            <a:ext cx="9216900" cy="19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CEB"/>
              </a:buClr>
              <a:buSzPts val="2800"/>
              <a:buFont typeface="Montserrat SemiBold"/>
              <a:buChar char="●"/>
            </a:pPr>
            <a:r>
              <a:rPr b="0" i="0" lang="en-US" sz="28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Communication : Visuels, réseaux sociaux…</a:t>
            </a:r>
            <a:endParaRPr b="0" i="0" sz="2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CEB"/>
              </a:buClr>
              <a:buSzPts val="2800"/>
              <a:buFont typeface="Montserrat SemiBold"/>
              <a:buChar char="●"/>
            </a:pPr>
            <a:r>
              <a:rPr lang="en-US" sz="2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Business</a:t>
            </a:r>
            <a:endParaRPr b="0" i="0" sz="2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CEB"/>
              </a:buClr>
              <a:buSzPts val="2800"/>
              <a:buFont typeface="Montserrat SemiBold"/>
              <a:buChar char="●"/>
            </a:pPr>
            <a:r>
              <a:rPr lang="en-US" sz="2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Logistique</a:t>
            </a:r>
            <a:endParaRPr b="0" i="0" sz="2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CEB"/>
              </a:buClr>
              <a:buSzPts val="2800"/>
              <a:buFont typeface="Montserrat SemiBold"/>
              <a:buChar char="●"/>
            </a:pPr>
            <a:r>
              <a:rPr lang="en-US" sz="2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Gestions</a:t>
            </a:r>
            <a:endParaRPr b="0" i="0" sz="2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25" name="Google Shape;225;p9"/>
          <p:cNvSpPr txBox="1"/>
          <p:nvPr/>
        </p:nvSpPr>
        <p:spPr>
          <a:xfrm>
            <a:off x="5164494" y="4338900"/>
            <a:ext cx="9022200" cy="28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Les objectifs :</a:t>
            </a:r>
            <a:endParaRPr b="0" i="0" sz="2400" u="none" cap="none" strike="noStrike">
              <a:solidFill>
                <a:schemeClr val="lt1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CEB"/>
              </a:buClr>
              <a:buSzPts val="2400"/>
              <a:buFont typeface="Montserrat Medium"/>
              <a:buChar char="-"/>
            </a:pPr>
            <a:r>
              <a:rPr b="0" i="0" lang="en-US" sz="2400" u="none" cap="none" strike="noStrike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Maintenir et améliorer la communication sur les réseaux</a:t>
            </a:r>
            <a:endParaRPr sz="2400">
              <a:solidFill>
                <a:schemeClr val="lt1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CEB"/>
              </a:buClr>
              <a:buSzPts val="2400"/>
              <a:buFont typeface="Montserrat Medium"/>
              <a:buChar char="-"/>
            </a:pPr>
            <a:r>
              <a:rPr lang="en-US" sz="24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trouver de nouveaux sponsors</a:t>
            </a:r>
            <a:endParaRPr sz="2400">
              <a:solidFill>
                <a:schemeClr val="lt1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CEB"/>
              </a:buClr>
              <a:buSzPts val="2400"/>
              <a:buFont typeface="Montserrat Medium"/>
              <a:buChar char="-"/>
            </a:pPr>
            <a:r>
              <a:rPr b="0" i="0" lang="en-US" sz="2400" u="none" cap="none" strike="noStrike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Organiser ou faire partie plus régulièrement </a:t>
            </a:r>
            <a:r>
              <a:rPr lang="en-US" sz="24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d'événements</a:t>
            </a:r>
            <a:endParaRPr b="0" i="0" sz="2400" u="none" cap="none" strike="noStrike">
              <a:solidFill>
                <a:schemeClr val="lt1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CEB"/>
              </a:buClr>
              <a:buSzPts val="2400"/>
              <a:buFont typeface="Montserrat Medium"/>
              <a:buChar char="-"/>
            </a:pPr>
            <a:r>
              <a:rPr b="0" i="0" lang="en-US" sz="2400" u="none" cap="none" strike="noStrike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Organiser les sorties sur circuit</a:t>
            </a:r>
            <a:endParaRPr b="0" i="0" sz="2400" u="none" cap="none" strike="noStrike">
              <a:solidFill>
                <a:schemeClr val="lt1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226" name="Google Shape;226;p9"/>
          <p:cNvSpPr txBox="1"/>
          <p:nvPr/>
        </p:nvSpPr>
        <p:spPr>
          <a:xfrm>
            <a:off x="4969794" y="1451950"/>
            <a:ext cx="8505000" cy="5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“Le coeur de l’association” - Resp FS01</a:t>
            </a:r>
            <a:endParaRPr b="0" i="0" sz="28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27" name="Google Shape;227;p9" title="6L7A8520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018955" y="0"/>
            <a:ext cx="5485061" cy="82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"/>
          <p:cNvSpPr/>
          <p:nvPr/>
        </p:nvSpPr>
        <p:spPr>
          <a:xfrm>
            <a:off x="0" y="7"/>
            <a:ext cx="14630400" cy="8229600"/>
          </a:xfrm>
          <a:prstGeom prst="rect">
            <a:avLst/>
          </a:prstGeom>
          <a:solidFill>
            <a:srgbClr val="00062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639750" y="6332400"/>
            <a:ext cx="128517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Nunito SemiBold"/>
              <a:buNone/>
            </a:pPr>
            <a:r>
              <a:rPr lang="en-US" sz="5400">
                <a:solidFill>
                  <a:srgbClr val="F2B42D"/>
                </a:solidFill>
                <a:latin typeface="DM Sans Black"/>
                <a:ea typeface="DM Sans Black"/>
                <a:cs typeface="DM Sans Black"/>
                <a:sym typeface="DM Sans Black"/>
              </a:rPr>
              <a:t>Rejoignez l’aventure (LE serv discord aussi svp)</a:t>
            </a:r>
            <a:endParaRPr i="0" sz="5400" cap="none" strike="noStrike">
              <a:solidFill>
                <a:srgbClr val="F2B42D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pic>
        <p:nvPicPr>
          <p:cNvPr id="235" name="Google Shape;235;p10" title="logo formul'ut blanc (4).png"/>
          <p:cNvPicPr preferRelativeResize="0"/>
          <p:nvPr/>
        </p:nvPicPr>
        <p:blipFill rotWithShape="1">
          <a:blip r:embed="rId3">
            <a:alphaModFix/>
          </a:blip>
          <a:srcRect b="8333" l="0" r="0" t="0"/>
          <a:stretch/>
        </p:blipFill>
        <p:spPr>
          <a:xfrm>
            <a:off x="1236842" y="760900"/>
            <a:ext cx="2083476" cy="926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0" title="image (2).png"/>
          <p:cNvPicPr preferRelativeResize="0"/>
          <p:nvPr/>
        </p:nvPicPr>
        <p:blipFill rotWithShape="1">
          <a:blip r:embed="rId4">
            <a:alphaModFix/>
          </a:blip>
          <a:srcRect b="6415" l="8492" r="0" t="6424"/>
          <a:stretch/>
        </p:blipFill>
        <p:spPr>
          <a:xfrm>
            <a:off x="11734200" y="760900"/>
            <a:ext cx="2083475" cy="769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0" title="télécharge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74720" y="1952647"/>
            <a:ext cx="4080955" cy="408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